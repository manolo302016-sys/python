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9952A"/>
                </a:solidFill>
              </a:rPr>
              <a:t>AVANTUM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800">
                <a:solidFill>
                  <a:srgbClr val="FFFFFF"/>
                </a:solidFill>
              </a:rPr>
              <a:t>Informe de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C9952A"/>
                </a:solidFill>
              </a:rPr>
              <a:t>Evaluacion de Factores de Riesgo Psicosocial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000">
                <a:solidFill>
                  <a:srgbClr val="FFFFFF"/>
                </a:solidFill>
              </a:rPr>
              <a:t>INDECOL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F3F4F6"/>
                </a:solidFill>
              </a:rPr>
              <a:t>Sector: Comercio/financiero   |   19 evaluados   |   April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6B7280"/>
                </a:solidFill>
              </a:rPr>
              <a:t>Resolucion 2764 de 2022  |  Ministerio de Trabajo Colombia  |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Contenido de la Presentacion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Estructura del informe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01  Ficha Tecnica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" cy="502920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02  Perfil Demografico (ASIS)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57400"/>
            <a:ext cx="54864" cy="502920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03  Resultados Intralaborales Globales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54864" cy="502920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59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04  Analisis por Dominios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94759"/>
            <a:ext cx="54864" cy="502920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05  Dimensiones Criticas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54864" cy="502920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06  Extralaborales y Estres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4864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07  Mapa de Calor por Areas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057400"/>
            <a:ext cx="54864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08  Ausentismo y Costo Economico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54864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94759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09  Conclusiones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794759"/>
            <a:ext cx="54864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F2937"/>
                </a:solidFill>
              </a:rPr>
              <a:t>10  Plan de Intervencion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663440"/>
            <a:ext cx="54864" cy="5029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Ficha Tecnica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Metodologia de evaluacion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12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Empresa evaluada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188720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INDECOL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36776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8249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Sector economico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82496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Comercio/financiero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30552"/>
            <a:ext cx="11612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76272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Total evaluados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76272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19 personas  (9 Forma A  /  10 Forma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24328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004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Instrumentos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70048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Forma A, Forma B, Extralaboral, Cuestionario de Estres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18104"/>
            <a:ext cx="11612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63824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Baremos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63824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Nacionales por tipo de cargo y sexo (2010 / 2022)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11880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57600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Clasificacion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657600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Sin riesgo | Bajo | Medio | Alto | Muy alto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05656"/>
            <a:ext cx="11612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51376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Marco normativo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151376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Resolucion 2764/2022 y Resolucion 2646/2008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99432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45152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Referente nacional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645152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ENCST 2013-2021 (II y III Encuesta Nacional)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093208"/>
            <a:ext cx="116128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13892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0A1628"/>
                </a:solidFill>
              </a:rPr>
              <a:t>Periodo evaluacion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38928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1F2937"/>
                </a:solidFill>
              </a:rPr>
              <a:t>April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Resultados Globales — KPIs Ejecutivos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Resumen de exposicion al riesgo psicosocial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47472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4416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Riesgo alto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2199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IntraA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1234440"/>
            <a:ext cx="347472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34416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Riesgo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22199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IntraB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234440"/>
            <a:ext cx="347472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34416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73.7%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2199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A+MA - Estrés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08960"/>
            <a:ext cx="347472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1868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36.8%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9651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A+MA - Extralaboral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3108960"/>
            <a:ext cx="347472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321868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60.0%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409651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A+MA - Intralaboral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108960"/>
            <a:ext cx="347472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21868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47.4%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9651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A+MA - Protocolos Urgentes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217920"/>
            <a:ext cx="11612880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263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92400E"/>
                </a:solidFill>
              </a:rPr>
              <a:t>Alerta: La empresa debe realizar una reevaluacion en no mas de 12 meses (Res. 2764/2022)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Perfil Demografico (ASIS)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Caracteristicas sociodemograficas de la poblacion evaluada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15855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15842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0A1628"/>
                </a:solidFill>
              </a:rPr>
              <a:t>Cobertura de evaluacion: 19 de 19 trabajadores (100.0%)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Resultados Intralaborales — Dominios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Distribucion de los 5 niveles de riesgo por dominio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686800" cy="33120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52560" y="1097280"/>
            <a:ext cx="283464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133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FFFFFF"/>
                </a:solidFill>
              </a:rPr>
              <a:t>Dominio   % A+MA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444752"/>
            <a:ext cx="2834640" cy="40233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904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Control sobre el traba...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0" y="1490472"/>
            <a:ext cx="8229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1490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FFFFFF"/>
                </a:solidFill>
              </a:rPr>
              <a:t>68.5%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847088"/>
            <a:ext cx="2834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92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Recompensas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0" y="1892808"/>
            <a:ext cx="8229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18928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FFFFFF"/>
                </a:solidFill>
              </a:rPr>
              <a:t>68.5%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249424"/>
            <a:ext cx="2834640" cy="40233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295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Liderazgo y relaciones...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2295144"/>
            <a:ext cx="82296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22951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FFFFFF"/>
                </a:solidFill>
              </a:rPr>
              <a:t>68.4%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651760"/>
            <a:ext cx="28346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Demandas del trabajo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0" y="2697480"/>
            <a:ext cx="8229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26974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FFFFFF"/>
                </a:solidFill>
              </a:rPr>
              <a:t>21.1%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Dimensiones Intralaborales Criticas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Top 5 dimensiones con mayor porcentaje de riesgo Alto + Muy Alto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046720" cy="38690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097280"/>
            <a:ext cx="338328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1338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FFFFF"/>
                </a:solidFill>
              </a:rPr>
              <a:t>Características del liderazgo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53619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68.4%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084832"/>
            <a:ext cx="338328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FFFFF"/>
                </a:solidFill>
              </a:rPr>
              <a:t>Oportunidades de desarrollo y uso de habilidad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2374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68.4%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072384"/>
            <a:ext cx="338328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FFFFF"/>
                </a:solidFill>
              </a:rPr>
              <a:t>Retroalimentación del desempeño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511296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68.4%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059936"/>
            <a:ext cx="338328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4096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FFFFF"/>
                </a:solidFill>
              </a:rPr>
              <a:t>Reconocimiento y compensación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49884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63.2%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5047488"/>
            <a:ext cx="338328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50840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FFFFF"/>
                </a:solidFill>
              </a:rPr>
              <a:t>Capacitación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54864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63.1%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Resultados Extralaborales y Estres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Distribucion de riesgo en factores externos al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3494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Mapa de Calor por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Porcentaje de trabajadores en Riesgo Alto + Muy Alto por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98079" cy="2113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1051560"/>
            <a:ext cx="402336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FFFFF"/>
                </a:solidFill>
              </a:rPr>
              <a:t>Area   |   % A+MA   |   Nivel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35608"/>
            <a:ext cx="402336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813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producción / operativa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1490472"/>
            <a:ext cx="82296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14904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FFFFFF"/>
                </a:solidFill>
              </a:rPr>
              <a:t>72.7%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892808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9385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administrativa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1947672"/>
            <a:ext cx="82296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9476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FFFFFF"/>
                </a:solidFill>
              </a:rPr>
              <a:t>37.5%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Ausentismo y Costo Economico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Indicadores de ausentismo laboral y estimacion de costo (Metodologia R10)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47472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Tasa de ausentismo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188720"/>
            <a:ext cx="347472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29844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-3.0pp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7627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Diferencia vs pais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474720" cy="1645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298448"/>
            <a:ext cx="347472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176272"/>
            <a:ext cx="34747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F3F4F6"/>
                </a:solidFill>
              </a:rPr>
              <a:t>Trabajadores en planta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FFFFFF"/>
                </a:solidFill>
              </a:rPr>
              <a:t>Indicador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632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114300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1985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N° trabajadores (planta evaluada)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19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19.0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67328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0390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% ausentismo actual (últimos 12 meses)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039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0.0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51376"/>
            <a:ext cx="114300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8795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Costo salario anual × FTE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879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33600000.0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35424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Capacidad productiva 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572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638400000.0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19472"/>
            <a:ext cx="114300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95604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Pérdida económica anual por ausentismo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560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0.0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03520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4009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Pérdida económica del empleador (60%)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3400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0.0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687568"/>
            <a:ext cx="114300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72414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Pérdida productividad (ausentismo + presentismo)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241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0.0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071616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10819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50">
                <a:solidFill>
                  <a:srgbClr val="1F2937"/>
                </a:solidFill>
              </a:rPr>
              <a:t>Costo estimado riesgo psicosocial (30%)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1081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850">
                <a:solidFill>
                  <a:srgbClr val="1F2937"/>
                </a:solidFill>
              </a:rPr>
              <a:t>0.0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Hallazgos principales y recomendaciones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" cy="566928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F2937"/>
                </a:solidFill>
              </a:rPr>
              <a:t>Nivel de riesgo global: Riesgo alto (nivel 4/5) para la poblacion evaluada (19 trabajadores).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84248"/>
            <a:ext cx="54864" cy="566928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8424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F2937"/>
                </a:solidFill>
              </a:rPr>
              <a:t>Sector economico: Comercio/financiero.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25496"/>
            <a:ext cx="54864" cy="566928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25496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F2937"/>
                </a:solidFill>
              </a:rPr>
              <a:t>Dimensiones criticas: Características del liderazgo, Oportunidades de desarrollo y uso de habilidad, Retroalimentación del desempeño (68.4%, 68.4%, 68.4% respectivamente).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66744"/>
            <a:ext cx="54864" cy="566928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66744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F2937"/>
                </a:solidFill>
              </a:rPr>
              <a:t>Area con mayor criticidad: producción / operativa (72.7% riesgo Alto+Muy Alto).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07992"/>
            <a:ext cx="54864" cy="566928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079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F2937"/>
                </a:solidFill>
              </a:rPr>
              <a:t>Ausentismo: 0.0% (-3.0pp vs promedio nacional).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9240"/>
            <a:ext cx="54864" cy="566928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3492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1F2937"/>
                </a:solidFill>
              </a:rPr>
              <a:t>Conforme a la Res. 2764/2022, se requiere implementar el plan de intervencion en los plazos establecidos y realizar seguimiento periodico.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Plan de Intervencion Prioritaria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9952A"/>
                </a:solidFill>
              </a:rPr>
              <a:t>Dimensiones con &gt;=35% de riesgo Alto + Muy Alto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F3F4F6"/>
                </a:solidFill>
              </a:rPr>
              <a:t>Avantum Consulting  |  Informe Riesgo Psicosocial — INDECOL  |  Res. 2764/2022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83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C9952A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216152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14300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FFFFFF"/>
                </a:solidFill>
              </a:rPr>
              <a:t>% A+MA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14300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FFFFFF"/>
                </a:solidFill>
              </a:rPr>
              <a:t>Estrategia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14300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FFFFFF"/>
                </a:solidFill>
              </a:rPr>
              <a:t>Plazo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114300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50">
                <a:solidFill>
                  <a:srgbClr val="FFFFFF"/>
                </a:solidFill>
              </a:rPr>
              <a:t>Responsable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63040"/>
            <a:ext cx="1216152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463040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508760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Características del liderazgo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508760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68.4%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1508760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1508760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44784" y="1508760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01952"/>
            <a:ext cx="12161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901952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1947672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Oportunidades de desarrollo y uso de habilidad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947672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68.4%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1947672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1947672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1947672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40864"/>
            <a:ext cx="1216152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340864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386584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Retroalimentación del desempeño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386584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68.4%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2386584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238658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44784" y="238658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79776"/>
            <a:ext cx="12161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779776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825496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Reconocimiento y compensación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2825496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63.2%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2825496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6336" y="2825496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44784" y="2825496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218688"/>
            <a:ext cx="1216152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218688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3264408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Capacitación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264408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63.1%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3264408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6336" y="3264408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44784" y="3264408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57600"/>
            <a:ext cx="12161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657600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3703320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Claridad de 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3703320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63.1%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3703320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Actualizacion de perfiles de cargo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6336" y="3703320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44784" y="3703320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096512"/>
            <a:ext cx="1216152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4096512"/>
            <a:ext cx="731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4142232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Recompensas derivadas de la pertenencia a la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4142232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57.9%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4142232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4142232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0–3 meses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44784" y="4142232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35424"/>
            <a:ext cx="12161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4535424"/>
            <a:ext cx="73152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" y="4581144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Relaciones sociales en el trabajo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89120" y="4581144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47.4%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4688" y="4581144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Programa convivencia laboral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46336" y="458114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3–6 meses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44784" y="4581144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974336"/>
            <a:ext cx="1216152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" y="4974336"/>
            <a:ext cx="73152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5020056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Influencia del entorno extralaboral sobre el trabajo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120" y="5020056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47.4%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04688" y="5020056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46336" y="5020056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3–6 meses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44784" y="5020056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413248"/>
            <a:ext cx="12161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5413248"/>
            <a:ext cx="73152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" y="5458968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Situación económica del grupo familiar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89120" y="5458968"/>
            <a:ext cx="1115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47.4%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04688" y="5458968"/>
            <a:ext cx="40416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Intervencion especifica — definir con SST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46336" y="5458968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3–6 meses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44784" y="5458968"/>
            <a:ext cx="1298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F2937"/>
                </a:solidFill>
              </a:rPr>
              <a:t>SST / RRHH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C99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9952A"/>
                </a:solidFill>
              </a:rPr>
              <a:t>AVANTUM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80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C9952A"/>
                </a:solidFill>
              </a:rPr>
              <a:t>Informe de Riesgo Psicosocial — INDECOL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F3F4F6"/>
                </a:solidFill>
              </a:rPr>
              <a:t>Resolucion 2764 de 2022  |  Ministerio de Trabajo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6B7280"/>
                </a:solidFill>
              </a:rPr>
              <a:t>Para consultas sobre este informe, contacte al equipo de SST de Avantum.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